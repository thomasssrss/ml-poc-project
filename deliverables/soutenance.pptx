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Arial"/>
              </a:rPr>
              <a:t>Prix médian €/m² par arrondissement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médian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8E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6e</c:v>
                  </c:pt>
                  <c:pt idx="1">
                    <c:v>7e</c:v>
                  </c:pt>
                  <c:pt idx="2">
                    <c:v>4e</c:v>
                  </c:pt>
                  <c:pt idx="3">
                    <c:v>8e</c:v>
                  </c:pt>
                  <c:pt idx="4">
                    <c:v>15e</c:v>
                  </c:pt>
                  <c:pt idx="5">
                    <c:v>18e</c:v>
                  </c:pt>
                  <c:pt idx="6">
                    <c:v>20e</c:v>
                  </c:pt>
                  <c:pt idx="7">
                    <c:v>19e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14646</c:v>
                </c:pt>
                <c:pt idx="1">
                  <c:v>14483</c:v>
                </c:pt>
                <c:pt idx="2">
                  <c:v>12933</c:v>
                </c:pt>
                <c:pt idx="3">
                  <c:v>12304</c:v>
                </c:pt>
                <c:pt idx="4">
                  <c:v>10300</c:v>
                </c:pt>
                <c:pt idx="5">
                  <c:v>9321</c:v>
                </c:pt>
                <c:pt idx="6">
                  <c:v>8670</c:v>
                </c:pt>
                <c:pt idx="7">
                  <c:v>8409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prix au m²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3931920"/>
            <a:ext cx="109728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Machine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DVF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4114800" cy="59436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156 077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analysées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633472"/>
            <a:ext cx="4114800" cy="59436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706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2770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croisés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346704"/>
            <a:ext cx="4114800" cy="59436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4198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34838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4059936"/>
            <a:ext cx="4114800" cy="59436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133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1 412 €/m²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4197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MAE (Random Forest)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51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estimer le prix au m² d'un appartement parisien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8321040" cy="82296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ML 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supervisée — prédire une valeur numérique continue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26060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77440"/>
            <a:ext cx="26060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première estimation rapide et objective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2377440"/>
            <a:ext cx="26060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2377440"/>
            <a:ext cx="26060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32644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Positionner son bien au juste prix marché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5896" y="2377440"/>
            <a:ext cx="26060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2377440"/>
            <a:ext cx="26060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63056" y="2944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63056" y="32644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un bien surévalué ou une opportunité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832104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prix_m² = valeur_foncière ÷ surface_réelle_bâtie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croisés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667512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6675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156 077 ventes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data.gouv.fr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réels de transaction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847088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Métro/RER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stations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IDFM open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 transports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596896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verts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2 528 espaces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 Paris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 parcs &amp; jardins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346704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2024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6941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INSEE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 open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Commerces, écoles, santé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096512"/>
            <a:ext cx="83210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🅿️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Stationnement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4439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24 874 places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 Paris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voiture à Paris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jointure : BallTree haversine (distances sphériques vectorisées)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931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93192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DVF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: Vente / Paris / Appartement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&gt; 0 (suppression lignes vides)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51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retirés : prix_m² &lt; 3 000 ou &gt; 25 000 €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188 426 → 156 077 lignes retenues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291840" cy="34747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420 066 lignes — fichier brut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493008"/>
            <a:ext cx="2926080" cy="34747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188 426 lignes — après filtrage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968496"/>
            <a:ext cx="256032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14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156 077 lignes — après outliers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51560"/>
            <a:ext cx="416052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créées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log_surface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819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non-linéaire surface/prix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surface_par_piece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267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du standing du bien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496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arrondissement_prix_moyen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715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(train set)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distance_station + nb_stations_500m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163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transport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distance_ev + nb_ev_500m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11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espaces verts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distance_* BPE + nb_*_500m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équipements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distance_parking + nb_parking_300m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stationnement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modèles comparés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2743200" cy="73152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avec RobustScaler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référence interprétable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 linéarité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05840"/>
            <a:ext cx="274320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 de décision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2670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20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=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non-linéarités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005840"/>
            <a:ext cx="27432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HistGBT (sklearn)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itérations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2670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séquentiel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80% train / 20% test  ·  Métriques : MAE, RMSE, R²  ·  Log-transform de la cible testé en v2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des modèles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46304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 (€/m²)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 (€/m²)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Linéaire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v2 (log) ← MEILLEUR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v2 (log)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730752"/>
            <a:ext cx="2606040" cy="1188720"/>
          </a:xfrm>
          <a:prstGeom prst="rect">
            <a:avLst/>
          </a:prstGeom>
          <a:solidFill>
            <a:srgbClr val="EBF3FB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730752"/>
            <a:ext cx="260604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8221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1 412 €/m²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MAE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373075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55848" y="38221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55848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R²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55848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56.5% de la variance expliquée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25896" y="373075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63056" y="38221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63056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relative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63056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prix médian 10 300 €/m²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résultats EDA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96012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05840"/>
            <a:ext cx="45720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70448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max–min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70448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6e (14 646 €/m²) vs 19e (8 409 €/m²) → écart de 6 237 €/m²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304288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04288"/>
            <a:ext cx="45720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870448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clé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70448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L'arrondissement est la variable la plus discriminante du modèle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602736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602736"/>
            <a:ext cx="45720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70448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70448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 la MAE de 1 572 → 1 412 €/m² (+10% de précision)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" y="42519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 Paris : 10 300 €/m²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55448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4832" y="1005840"/>
            <a:ext cx="155448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060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58184" y="1005840"/>
            <a:ext cx="155448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060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1005840"/>
            <a:ext cx="155448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1060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04888" y="1005840"/>
            <a:ext cx="15544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10607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un prix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600200"/>
            <a:ext cx="3931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1600200"/>
            <a:ext cx="3931920" cy="6400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arrondissement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l'arrondissement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nombre de pièces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+ présence d'ascenseur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621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immédiat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6634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600200"/>
            <a:ext cx="466344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011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adresse exacte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468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Géocodage via api-adresse.data.gouv.fr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8529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IDW sur 20 arrondissements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2369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Bonus/malus type de voie (avenue +5%, impasse -5%)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6210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 : métro, parcs, commerces, stationnement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005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étage + sans ascenseur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pistes d'amélioration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9319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3931920" cy="6400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0.565 → 43% de variance inexpliquée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DVF sans : étage, état du bien, balcon, exposition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GPS approximatives (centroïde cadastral)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externes = état actuel ≠ moment des ventes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416052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33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572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données DPE (classe énergie)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1396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qualitatives via annonces immobilières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7066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géographique (krigeage ou GNN)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273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DVF (nouvelles ventes)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8404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pour de meilleures performances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280160" cy="502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8046720" cy="576072"/>
          </a:xfrm>
          <a:prstGeom prst="rect">
            <a:avLst/>
          </a:prstGeom>
          <a:solidFill>
            <a:srgbClr val="234F6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533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fonctionnel de bout en bout : données → modèle → application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8046720" cy="576072"/>
          </a:xfrm>
          <a:prstGeom prst="rect">
            <a:avLst/>
          </a:prstGeom>
          <a:solidFill>
            <a:srgbClr val="234F6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0299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log-transform : meilleur compromis performance / interprétabilité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8046720" cy="576072"/>
          </a:xfrm>
          <a:prstGeom prst="rect">
            <a:avLst/>
          </a:prstGeom>
          <a:solidFill>
            <a:srgbClr val="234F6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7066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0662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1 412 €/m² sur 156 077 transactions parisiennes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8046720" cy="576072"/>
          </a:xfrm>
          <a:prstGeom prst="rect">
            <a:avLst/>
          </a:prstGeom>
          <a:solidFill>
            <a:srgbClr val="234F6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383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Estimateur temps réel par adresse exacte (géocodage + IDW + proximités)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8046720" cy="576072"/>
          </a:xfrm>
          <a:prstGeom prst="rect">
            <a:avLst/>
          </a:prstGeom>
          <a:solidFill>
            <a:srgbClr val="234F6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05993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5993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100% open data — projet entièrement reproductible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prix au m² à Paris — POC ML</dc:title>
  <dc:subject>PptxGenJS Presentation</dc:subject>
  <dc:creator>PptxGenJS</dc:creator>
  <cp:lastModifiedBy>PptxGenJS</cp:lastModifiedBy>
  <cp:revision>1</cp:revision>
  <dcterms:created xsi:type="dcterms:W3CDTF">2026-05-20T16:23:25Z</dcterms:created>
  <dcterms:modified xsi:type="dcterms:W3CDTF">2026-05-20T16:23:25Z</dcterms:modified>
</cp:coreProperties>
</file>